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40142" cy="68580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40142" y="0"/>
            <a:ext cx="4621378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03566" y="457200"/>
            <a:ext cx="36576" cy="59436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Improvised ERF Framework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Generalization via Academic Methodologies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Hussain et al. (2025) — Mobile App Rating Prediction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840480"/>
            <a:ext cx="6400800" cy="3657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02336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Naqi (23F-3052)  ·  Muhammad Ahmad (23F-3028)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452628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SE-6B  ·  Data Science Project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1622" y="1097280"/>
            <a:ext cx="3657600" cy="1005840"/>
          </a:xfrm>
          <a:prstGeom prst="rect">
            <a:avLst/>
          </a:prstGeom>
          <a:solidFill>
            <a:srgbClr val="1B5E20"/>
          </a:solidFill>
          <a:ln w="190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1622" y="11704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951622" y="1664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Achieved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1622" y="2395728"/>
            <a:ext cx="3657600" cy="1005840"/>
          </a:xfrm>
          <a:prstGeom prst="rect">
            <a:avLst/>
          </a:prstGeom>
          <a:solidFill>
            <a:srgbClr val="1B5E20"/>
          </a:solidFill>
          <a:ln w="190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51622" y="2468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57K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951622" y="29626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Samples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1622" y="3694176"/>
            <a:ext cx="3657600" cy="1005840"/>
          </a:xfrm>
          <a:prstGeom prst="rect">
            <a:avLst/>
          </a:prstGeom>
          <a:solidFill>
            <a:srgbClr val="1B5E20"/>
          </a:solidFill>
          <a:ln w="190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51622" y="37673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8×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951622" y="4261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1622" y="4992624"/>
            <a:ext cx="3657600" cy="1005840"/>
          </a:xfrm>
          <a:prstGeom prst="rect">
            <a:avLst/>
          </a:prstGeom>
          <a:solidFill>
            <a:srgbClr val="1B5E20"/>
          </a:solidFill>
          <a:ln w="190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51622" y="506577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951622" y="5559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Methods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Scalability Gap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30352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530352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F3DC"/>
                </a:solidFill>
              </a:rPr>
              <a:t>ORIGINAL PAPER (Hussain et al., 2025)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7,197 rows — 0.6% of available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317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Reported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on a non-representative tiny sample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004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train-test split (overfitting risk)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69080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690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raw columns only (Price, Size, Genre)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937760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9377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2120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on realistic large-scale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868680"/>
            <a:ext cx="548640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868680"/>
            <a:ext cx="5486400" cy="38404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8686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OBJECTIVES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1463040"/>
            <a:ext cx="5120640" cy="1325880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155448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Task 2 — Replication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Faithfully reproduce the original paper's experimental setup and baseline metrics on the same 7K sample.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3017520"/>
            <a:ext cx="5120640" cy="1325880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10896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Task 3 — Improvisation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four academic DS methodologies to an 8× larger dataset (57,862 rows) for genuine generalization.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4572000"/>
            <a:ext cx="5120640" cy="1325880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466344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Key Goal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that scalable Data Quality + Feature Engineering outperform model complexity alone.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Original Paper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65760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E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36576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332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8F3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Microscopic Sample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8288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7,197 rows from a dataset of 1.23M apps. Only 0.6% of available data — making statistical generalization mathematically impossible.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868680"/>
            <a:ext cx="365760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E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868680"/>
            <a:ext cx="36576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0332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8F3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16552" y="1463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Feature 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16552" y="18288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raw columns: Price, Size, Genre. No log-transforms, no interaction features, no dimensionality reduction applied.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868680"/>
            <a:ext cx="365760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E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868680"/>
            <a:ext cx="36576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0332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8F3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02752" y="1463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Evaluation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02752" y="18288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80/20 train-test split. No cross-validation means metrics could reflect lucky splits rather than genuine model quality.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365760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E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474720"/>
            <a:ext cx="36576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393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8F3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0352" y="4069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Outlier Handling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" y="44348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price and size values (e.g., $999 apps) distort tree splits. No IQR-based outlier removal was performed.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51960" y="3474720"/>
            <a:ext cx="365760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E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51960" y="3474720"/>
            <a:ext cx="36576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36393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8F3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416552" y="4069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 Search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16552" y="44348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scikit-learn parameters used throughout. No RandomizedSearchCV or GridSearch — leaving significant performance on the table.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474720"/>
            <a:ext cx="365760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E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3474720"/>
            <a:ext cx="36576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36393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8F3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302752" y="4069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 Balance Check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02752" y="44348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does not report class distribution, leaving open whether high accuracy is genuine or driven by majority-class bias.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Improvisations — The Four Pillars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57784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5577840" cy="822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33272"/>
            <a:ext cx="45720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03327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IQR Outlier Detection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32588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Topic: Exploratory Data Analysis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1581912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IQR (Q3 − Q1) for Price and Size. Removed values falling outside [Q1 − 1.5×IQR, Q3 + 1.5×IQR].
</a:t>
            </a:r>
            <a:pPr algn="l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values (e.g., $999 apps) corrupt tree split thresholds and skew feature distributions.
</a:t>
            </a:r>
            <a:pPr algn="l" indent="0" marL="0">
              <a:buNone/>
            </a:pPr>
            <a:r>
              <a:rPr lang="en-US" sz="105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Cleaner, noise-free feature space. Improved F1 on Logistic Regression from 0.43 → 0.92.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68680"/>
            <a:ext cx="557784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68680"/>
            <a:ext cx="5577840" cy="822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033272"/>
            <a:ext cx="45720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85432" y="103327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Dimensionality Reduction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85432" y="132588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Topic: Unsupervised Learning / Linear Algebra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36792" y="1581912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PCA to 46 engineered features. Retained 24 principal components capturing 95% of variance.
</a:t>
            </a:r>
            <a:pPr algn="l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sparse features cause the 'curse of dimensionality' and inflate training time.
</a:t>
            </a:r>
            <a:pPr algn="l" indent="0" marL="0">
              <a:buNone/>
            </a:pPr>
            <a:r>
              <a:rPr lang="en-US" sz="105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46→24 features. Ensemble models train on 57K rows in under 2 minutes.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557784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57600"/>
            <a:ext cx="5577840" cy="822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22192"/>
            <a:ext cx="45720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" y="38221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 Cross-Validation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411480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Topic: Model Evaluation &amp; Validation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0352" y="4370832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basic 80/20 split with Stratified K-Fold (k=3), preserving class ratios in every fold.
</a:t>
            </a:r>
            <a:pPr algn="l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splits produce optimistic results. Stratification prevents class-imbalance leak into test sets.
</a:t>
            </a:r>
            <a:pPr algn="l" indent="0" marL="0">
              <a:buNone/>
            </a:pPr>
            <a:r>
              <a:rPr lang="en-US" sz="105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reproducible metrics. Variance across folds &lt; 0.005 F1 — high confidence in 0.92.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3657600"/>
            <a:ext cx="557784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8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657600"/>
            <a:ext cx="5577840" cy="822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3822192"/>
            <a:ext cx="45720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85432" y="38221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— Hyperparameter Tuning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85432" y="411480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Topic: Model Optimization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36792" y="4370832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20 parameter combinations from defined distributions using RandomizedSearchCV (cv=3).
</a:t>
            </a:r>
            <a:pPr algn="l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scikit-learn parameters are conservative. Tuning unlocks model capacity without overfitting.
</a:t>
            </a:r>
            <a:pPr algn="l" indent="0" marL="0">
              <a:buNone/>
            </a:pPr>
            <a:r>
              <a:rPr lang="en-US" sz="105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RF: n_estimators=200, max_depth=20. Final F1 locked at 0.9209 for XGBoost.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Engineering &amp; Scaling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468880" cy="141732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1,230,376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Apple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3716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0916C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035040" y="13716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0916C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869680" y="914400"/>
            <a:ext cx="2468880" cy="1417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69680" y="10515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57,862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69680" y="1645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(8×)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869680" y="1920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Final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11430000" cy="36576"/>
          </a:xfrm>
          <a:prstGeom prst="rect">
            <a:avLst/>
          </a:prstGeom>
          <a:solidFill>
            <a:srgbClr val="D1E8D4"/>
          </a:solidFill>
          <a:ln w="12700">
            <a:solidFill>
              <a:srgbClr val="D1E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88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Applied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91840"/>
            <a:ext cx="54864" cy="13258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4015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3749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log(Reviews+1), log(Size+1) — normalize heavy right-skew in count/size distributions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3291840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3291840"/>
            <a:ext cx="54864" cy="13258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16552" y="34015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Per Day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16552" y="3749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feature: Reviews ÷ App Age in days — captures velocity as a rating signal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291840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291840"/>
            <a:ext cx="54864" cy="13258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34015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× Size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02752" y="3749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Interaction: Price × Size — encodes premium app positioning as a combined proxy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846320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846320"/>
            <a:ext cx="54864" cy="13258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9560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Encoding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" y="53035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genre with 50+ categories collapsed into meaningful numeric clusters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51960" y="4846320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51960" y="4846320"/>
            <a:ext cx="54864" cy="13258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16552" y="49560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Features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16552" y="53035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age in days, log(age+1) — newer apps have different rating trajectories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38160" y="4846320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4846320"/>
            <a:ext cx="54864" cy="13258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49560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Components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02752" y="53035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raw + engineered features → 24 principal components (95% variance retained)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Task 2 Replication vs Task 3 Improvisation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1430000" cy="914400"/>
          </a:xfrm>
          <a:prstGeom prst="rect">
            <a:avLst/>
          </a:prstGeom>
          <a:solidFill>
            <a:srgbClr val="1B4332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Key Win: </a:t>
            </a:r>
            <a:pPr indent="0" marL="0">
              <a:buNone/>
            </a:pPr>
            <a:r>
              <a:rPr lang="en-US" sz="15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F1 jumped from 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pPr indent="0" marL="0">
              <a:buNone/>
            </a:pPr>
            <a:r>
              <a:rPr lang="en-US" sz="15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700" b="1" dirty="0">
                <a:solidFill>
                  <a:srgbClr val="7CF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pPr indent="0" marL="0">
              <a:buNone/>
            </a:pPr>
            <a:r>
              <a:rPr lang="en-US" sz="15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All models converged at 92% F1 on 8× more data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28800"/>
          <a:ext cx="11430000" cy="192024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371600"/>
                <a:gridCol w="1645920"/>
                <a:gridCol w="1371600"/>
                <a:gridCol w="1554480"/>
                <a:gridCol w="155448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 2 Accuracy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 2 F1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 3 Accuracy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 3 F1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 (T3)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 (T3)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1C1E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</a:rPr>
                        <a:t>57%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</a:rPr>
                        <a:t>0.43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</a:rPr>
                        <a:t>85%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332"/>
                          </a:solidFill>
                        </a:rPr>
                        <a:t>0.9204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</a:rPr>
                        <a:t>0.86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</a:rPr>
                        <a:t>0.99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1C1E"/>
                          </a:solidFill>
                        </a:rPr>
                        <a:t>Random Forest (ERF)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</a:rPr>
                        <a:t>84%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</a:rPr>
                        <a:t>0.76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</a:rPr>
                        <a:t>86%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332"/>
                          </a:solidFill>
                        </a:rPr>
                        <a:t>0.9205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</a:rPr>
                        <a:t>0.87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</a:rPr>
                        <a:t>0.98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1C1E"/>
                          </a:solidFill>
                        </a:rPr>
                        <a:t>XGBoost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</a:rPr>
                        <a:t>84%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</a:rPr>
                        <a:t>0.83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</a:rPr>
                        <a:t>86%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332"/>
                          </a:solidFill>
                        </a:rPr>
                        <a:t>0.9209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</a:rPr>
                        <a:t>0.86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C1E"/>
                          </a:solidFill>
                        </a:rPr>
                        <a:t>0.99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977640"/>
            <a:ext cx="214884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023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" y="45262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Apps Processed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70048" y="3977640"/>
            <a:ext cx="214884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70048" y="4023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57,862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670048" y="45262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Robust Dataset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74336" y="3977640"/>
            <a:ext cx="214884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74336" y="4023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0.43→0.92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974336" y="45262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F1 Improvement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278624" y="3977640"/>
            <a:ext cx="214884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78624" y="4023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k=3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278624" y="45262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Folds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582912" y="3977640"/>
            <a:ext cx="214884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82912" y="4023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&lt;2min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582912" y="45262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 (PCA)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5760" y="5120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(Hussain et al.): LR=0.69 F1, RF=0.76 F1, XGB=0.83 F1 on 7,197 rows  |  Task 2 Replication on same 7K sample  |  Task 3 Improved on 57,862 rows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Chart: Paper vs Replication vs Improved — All Metrics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 — </a:t>
            </a:r>
            <a:pPr indent="0" marL="0">
              <a:buNone/>
            </a:pPr>
            <a:r>
              <a:rPr lang="en-US" sz="1150" dirty="0">
                <a:solidFill>
                  <a:srgbClr val="A0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Accuracy, Precision, Recall, and F1-Score for LR, RF, and XGB across all three stages. The green bars (Task 3) uniformly dominate across every metric, proving that our improvisation pipeline generalizes well — not just on one model.</a:t>
            </a:r>
            <a:endParaRPr lang="en-US" sz="1150" dirty="0"/>
          </a:p>
        </p:txBody>
      </p:sp>
      <p:pic>
        <p:nvPicPr>
          <p:cNvPr id="5" name="Image 0" descr="/mnt/user-data/uploads/fig1_three_wa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11247120" cy="3101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</a:rPr>
              <a:t>Blue = Original Paper  |  Orange = Task 2 Replication  |  Green = Task 3 Improved (ERF Pipeline)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Chart: Confusion Matrices — All Three Models (Task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 —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for Logistic Regression, Random Forest (ERF), and XGBoost on the 11,573-row test split. The True Positive (TP) dominance (≈83-84%) with low False Negative (FN ≈ 1-2%) confirms the pipeline's ability to correctly identify High-Rated apps — critical for production deployment.</a:t>
            </a:r>
            <a:endParaRPr lang="en-US" sz="1150" dirty="0"/>
          </a:p>
        </p:txBody>
      </p:sp>
      <p:pic>
        <p:nvPicPr>
          <p:cNvPr id="5" name="Image 0" descr="/mnt/user-data/uploads/fig2_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11247120" cy="3332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5074920"/>
            <a:ext cx="2651760" cy="804672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51206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9,724 (84.0%)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" y="55046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True Positives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5074920"/>
            <a:ext cx="2651760" cy="804672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46120" y="51206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9,641 (83.3%)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46120" y="55046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True Positives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5074920"/>
            <a:ext cx="2651760" cy="804672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51206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9,702 (83.8%)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126480" y="55046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True Positives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006840" y="5074920"/>
            <a:ext cx="2651760" cy="804672"/>
          </a:xfrm>
          <a:prstGeom prst="rect">
            <a:avLst/>
          </a:prstGeom>
          <a:solidFill>
            <a:srgbClr val="D8F3DC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06840" y="51206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189 (1.6%) — RF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006840" y="55046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False Negatives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Chart: Ablation Study — Incremental Impact of Each Improvement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 — </a:t>
            </a:r>
            <a:pPr indent="0" marL="0">
              <a:buNone/>
            </a:pPr>
            <a:r>
              <a:rPr lang="en-US" sz="1150" dirty="0">
                <a:solidFill>
                  <a:srgbClr val="A0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group represents adding one methodology on top of the previous. The most dramatic jump is at Step 2 (+Scaled &amp; Filtered 57K): LR leaps from 0.43 → 0.92. This proves </a:t>
            </a:r>
            <a:pPr indent="0" marL="0">
              <a:buNone/>
            </a:pPr>
            <a:r>
              <a:rPr lang="en-US" sz="115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 the single highest-leverage intervention.</a:t>
            </a:r>
            <a:pPr indent="0" marL="0">
              <a:buNone/>
            </a:pPr>
            <a:r>
              <a:rPr lang="en-US" sz="1150" dirty="0">
                <a:solidFill>
                  <a:srgbClr val="A0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SMOTE Resampling (Step 4) degrades performance — a key negative finding.</a:t>
            </a:r>
            <a:endParaRPr lang="en-US" sz="1150" dirty="0"/>
          </a:p>
        </p:txBody>
      </p:sp>
      <p:pic>
        <p:nvPicPr>
          <p:cNvPr id="5" name="Image 0" descr="/mnt/user-data/uploads/fig3_ablation_stu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91640"/>
            <a:ext cx="10972800" cy="54525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Chart: Feature Importance — Top 15 Principal Components</a:t>
            </a:r>
            <a:endParaRPr lang="en-US" sz="2400" dirty="0"/>
          </a:p>
        </p:txBody>
      </p:sp>
      <p:pic>
        <p:nvPicPr>
          <p:cNvPr id="4" name="Image 0" descr="/mnt/user-data/uploads/fig4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22960"/>
            <a:ext cx="7996844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2644" y="822960"/>
            <a:ext cx="3204556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D1E8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2644" y="822960"/>
            <a:ext cx="3204556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2644" y="822960"/>
            <a:ext cx="3204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65524" y="1371600"/>
            <a:ext cx="29302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24 dominates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865524" y="1664208"/>
            <a:ext cx="29302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importance ~0.076 — nearly 2× next component. Likely encodes a combination of Reviews + Age interaction.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865524" y="2450592"/>
            <a:ext cx="29302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6, 23, 9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865524" y="2743200"/>
            <a:ext cx="29302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components (0.05–0.054). Capture genre-price-size combinations.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865524" y="3529584"/>
            <a:ext cx="29302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(PCs 1–22)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865524" y="3822192"/>
            <a:ext cx="29302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~0.039–0.042 each. PCA successfully distributed signal — no single raw feature dominates.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865524" y="4608576"/>
            <a:ext cx="29302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Feature Bias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865524" y="4901184"/>
            <a:ext cx="29302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 applied PCA, the RF cannot overfit to a single noisy raw column (e.g., Genre).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Chart: F1-Score — All Improved Models (Final Results)</a:t>
            </a:r>
            <a:endParaRPr lang="en-US" sz="2400" dirty="0"/>
          </a:p>
        </p:txBody>
      </p:sp>
      <p:pic>
        <p:nvPicPr>
          <p:cNvPr id="4" name="Image 0" descr="/mnt/user-data/uploads/fig5_all_models_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7772400" cy="38310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822960"/>
            <a:ext cx="3291840" cy="4937760"/>
          </a:xfrm>
          <a:prstGeom prst="rect">
            <a:avLst/>
          </a:prstGeom>
          <a:solidFill>
            <a:srgbClr val="1E3A2A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78240" y="9601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F3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Scores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778240" y="1463040"/>
            <a:ext cx="2926080" cy="1097280"/>
          </a:xfrm>
          <a:prstGeom prst="rect">
            <a:avLst/>
          </a:prstGeom>
          <a:solidFill>
            <a:srgbClr val="162E20"/>
          </a:solidFill>
          <a:ln w="12700">
            <a:solidFill>
              <a:srgbClr val="4EA8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0" y="157276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A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0.9204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778240" y="21214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778240" y="2743200"/>
            <a:ext cx="2926080" cy="1097280"/>
          </a:xfrm>
          <a:prstGeom prst="rect">
            <a:avLst/>
          </a:prstGeom>
          <a:solidFill>
            <a:srgbClr val="162E2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0" y="285292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0.9205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778240" y="34015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(ERF)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778240" y="4023360"/>
            <a:ext cx="2926080" cy="1097280"/>
          </a:xfrm>
          <a:prstGeom prst="rect">
            <a:avLst/>
          </a:prstGeom>
          <a:solidFill>
            <a:srgbClr val="162E20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0" y="41330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A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0.9209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778240" y="468172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4709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converge at 92% F1 — confirming the pipeline is model-agnostic and robust.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Technical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39496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D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53949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NEGATIVE FINDING: SMOTE Rejected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tried: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SMOTE oversampling to balance the Low-rated class (≈15% of data) before model training.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degraded: LR dropped from 0.92 → 0.78. RF fell to 0.87. XGB to 0.79.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synthesizes minority samples in feature space. Post-PCA, these synthetic points fall in unrealistic regions and add noise.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Conclusion: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dataset's natural class imbalance is statistically representative. Forcing balance via SMOTE distorts the real-world signal.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120640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Value: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SMOTE failure demonstrates rigorous model selection — not every technique belongs in every pipeline.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868680"/>
            <a:ext cx="557784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868680"/>
            <a:ext cx="5577840" cy="4114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8686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POSITIVE FINDINGS: Pipeline Wins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1463040"/>
            <a:ext cx="5212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Efficiency: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46 features to 24 PCs. Complex ensembles (RF 200 trees) train in &lt;2 minutes on 57K rows.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2377440"/>
            <a:ext cx="5212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as Gatekeeper: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outliers was the single highest-leverage step. LR F1: 0.43 → 0.92 in one preprocessing step.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3291840"/>
            <a:ext cx="5212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 Stability: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 (k=3) produced &lt; 0.005 variance across folds. The 92% score is not a lucky split.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4206240"/>
            <a:ext cx="5212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Gains: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added ~0.003 F1 over defaults. Small gain, but statistically justified for production.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5120640"/>
            <a:ext cx="5212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1.23M rows processed via chunked data-type optimization. uint8/float32 reduced RAM by 40%.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88836" y="0"/>
            <a:ext cx="5472684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Improvised ERF Framework — What We Proved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438912" cy="43891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193852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&gt; Model Complexity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22402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cleaning alone drove the most dramatic F1 improvement. A clean 57K dataset outperforms fancy models on dirty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438912" cy="43891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303580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Methods Generalize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33375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Stratified K-Fold + RandomizedSearchCV are not textbook theory — they deliver measurable production-grade gains.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114800"/>
            <a:ext cx="438912" cy="43891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114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413308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Is Context-Dependent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44348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resampling technique belongs in every pipeline. Our negative finding is as scientifically valuable as the positive ones.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5212080"/>
            <a:ext cx="438912" cy="43891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212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523036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Is Production-Ready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55321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57K rows, &lt;2min training, 92.09% F1, stable across folds. This ERF pipeline is deployable at App Store scale.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54596" y="731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Metrics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054596" y="1371600"/>
            <a:ext cx="5029200" cy="841248"/>
          </a:xfrm>
          <a:prstGeom prst="rect">
            <a:avLst/>
          </a:prstGeom>
          <a:solidFill>
            <a:srgbClr val="1B5E20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4596" y="1444752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92.09%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54596" y="18836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F1-Score (XGBoost)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54596" y="2359152"/>
            <a:ext cx="5029200" cy="841248"/>
          </a:xfrm>
          <a:prstGeom prst="rect">
            <a:avLst/>
          </a:prstGeom>
          <a:solidFill>
            <a:srgbClr val="1B5E20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4596" y="2432304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57,862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54596" y="28712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 Rows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54596" y="3346704"/>
            <a:ext cx="5029200" cy="841248"/>
          </a:xfrm>
          <a:prstGeom prst="rect">
            <a:avLst/>
          </a:prstGeom>
          <a:solidFill>
            <a:srgbClr val="1B5E20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4596" y="3419856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8×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054596" y="38587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vs. Original Paper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054596" y="4334256"/>
            <a:ext cx="5029200" cy="841248"/>
          </a:xfrm>
          <a:prstGeom prst="rect">
            <a:avLst/>
          </a:prstGeom>
          <a:solidFill>
            <a:srgbClr val="1B5E20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54596" y="440740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54596" y="48463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Methods Applied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54596" y="5321808"/>
            <a:ext cx="5029200" cy="841248"/>
          </a:xfrm>
          <a:prstGeom prst="rect">
            <a:avLst/>
          </a:prstGeom>
          <a:solidFill>
            <a:srgbClr val="1B5E20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4596" y="53949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&lt;2 min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054596" y="58338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Time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8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Naqi (23F-3052) · Muhammad Ahmad (23F-3028) · Section SE-6B · Base Paper: Hussain et al. (2025)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Improvised ERF Framework</dc:title>
  <dc:subject>PptxGenJS Presentation</dc:subject>
  <dc:creator>PptxGenJS</dc:creator>
  <cp:lastModifiedBy>PptxGenJS</cp:lastModifiedBy>
  <cp:revision>1</cp:revision>
  <dcterms:created xsi:type="dcterms:W3CDTF">2026-05-05T09:14:18Z</dcterms:created>
  <dcterms:modified xsi:type="dcterms:W3CDTF">2026-05-05T09:14:18Z</dcterms:modified>
</cp:coreProperties>
</file>